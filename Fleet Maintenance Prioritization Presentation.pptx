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Relationship Id="rId12" Type="http://schemas.openxmlformats.org/officeDocument/2006/relationships/image" Target="../media/image37.png"/><Relationship Id="rId13" Type="http://schemas.openxmlformats.org/officeDocument/2006/relationships/image" Target="../media/image38.png"/><Relationship Id="rId14" Type="http://schemas.openxmlformats.org/officeDocument/2006/relationships/image" Target="../media/image39.png"/><Relationship Id="rId15" Type="http://schemas.openxmlformats.org/officeDocument/2006/relationships/image" Target="../media/image40.png"/><Relationship Id="rId16" Type="http://schemas.openxmlformats.org/officeDocument/2006/relationships/image" Target="../media/image41.png"/><Relationship Id="rId17" Type="http://schemas.openxmlformats.org/officeDocument/2006/relationships/image" Target="../media/image42.png"/><Relationship Id="rId18" Type="http://schemas.openxmlformats.org/officeDocument/2006/relationships/image" Target="../media/image43.png"/><Relationship Id="rId19" Type="http://schemas.openxmlformats.org/officeDocument/2006/relationships/image" Target="../media/image44.png"/><Relationship Id="rId20" Type="http://schemas.openxmlformats.org/officeDocument/2006/relationships/image" Target="../media/image45.png"/><Relationship Id="rId21" Type="http://schemas.openxmlformats.org/officeDocument/2006/relationships/image" Target="../media/image46.png"/><Relationship Id="rId22" Type="http://schemas.openxmlformats.org/officeDocument/2006/relationships/image" Target="../media/image47.png"/><Relationship Id="rId23" Type="http://schemas.openxmlformats.org/officeDocument/2006/relationships/image" Target="../media/image4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25.png"/><Relationship Id="rId6" Type="http://schemas.openxmlformats.org/officeDocument/2006/relationships/image" Target="../media/image64.png"/><Relationship Id="rId7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25.png"/><Relationship Id="rId6" Type="http://schemas.openxmlformats.org/officeDocument/2006/relationships/image" Target="../media/image69.png"/><Relationship Id="rId7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7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2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8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2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2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006774"/>
            <a:ext cx="11125200" cy="1209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19100"/>
            <a:ext cx="3143250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838200"/>
            <a:ext cx="11658600" cy="547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b="1" sz="3450" i="0" u="none">
                <a:solidFill>
                  <a:srgbClr val="FFFFFF"/>
                </a:solidFill>
                <a:latin typeface="Poppins"/>
              </a:rPr>
              <a:t>Fleet Maintenance Prioritization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500187"/>
            <a:ext cx="111252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CBD5E1"/>
                </a:solidFill>
                <a:latin typeface="Lato"/>
              </a:rPr>
              <a:t>Evaluating Dispatcher Priorities Against Operational Impact in Municipal Fleet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3244899"/>
            <a:ext cx="106489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Lato"/>
              </a:rPr>
              <a:t>CORE BUSINESS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3492549"/>
            <a:ext cx="106489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E2E8F0"/>
                </a:solidFill>
                <a:latin typeface="Lato"/>
              </a:rPr>
              <a:t>Fleet maintenance dispatchers ration limited shop capacity using a coarse priority signal. When 98%+ of work orders share the exact same priority code, genuinely high-impact jobs hide in the queue—driving avoidable downtime and excess costs.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456336"/>
            <a:ext cx="11125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4A3B8"/>
                </a:solidFill>
                <a:latin typeface="Lato"/>
              </a:rPr>
              <a:t>GROUP A1 PROJECT TEAM &amp;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6246911"/>
            <a:ext cx="11125200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64748B"/>
                </a:solidFill>
                <a:latin typeface="Lato"/>
              </a:rPr>
              <a:t>Data Source: City of Cincinnati Open Data Portal (332,372 Work Orders • 8,353 Equipment Units)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5837336"/>
            <a:ext cx="1457325" cy="2952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5975" y="5837336"/>
            <a:ext cx="1247775" cy="2952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5837336"/>
            <a:ext cx="1104900" cy="2952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9150" y="5837336"/>
            <a:ext cx="952500" cy="2952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76900" y="5837336"/>
            <a:ext cx="1257300" cy="2952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9450" y="5837336"/>
            <a:ext cx="1171575" cy="2952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96275" y="5837336"/>
            <a:ext cx="1609725" cy="2952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275" y="5923061"/>
            <a:ext cx="114300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28850" y="5923061"/>
            <a:ext cx="114300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71875" y="5923061"/>
            <a:ext cx="114300" cy="1333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72025" y="5923061"/>
            <a:ext cx="114300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19775" y="5923061"/>
            <a:ext cx="114300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72325" y="5923061"/>
            <a:ext cx="114300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39150" y="5923061"/>
            <a:ext cx="1143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786532"/>
            <a:ext cx="5429250" cy="189249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1786532"/>
            <a:ext cx="5429250" cy="189249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945731"/>
            <a:ext cx="5429250" cy="189249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350" y="3945731"/>
            <a:ext cx="5429250" cy="18924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0575" y="2438995"/>
            <a:ext cx="495300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Problem: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98.31% of all work orders sit under Priority Code 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" y="2751385"/>
            <a:ext cx="4953000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Why it Matters: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A single dominant category renders the priority field virtually useless for day-to-day shop sequencing, creating queue bottlenecks.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6525" y="2438995"/>
            <a:ext cx="49530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Problem: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Maintenance cost and vehicle downtime are nearly uncorrelated (r = 0.086).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525" y="2987575"/>
            <a:ext cx="49530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Why it Matters: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Standard triage focuses on expensive repairs, completely missing lower-cost jobs that cause massive operational downtime.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575" y="4598193"/>
            <a:ext cx="49530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Problem: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ANOVA shows statistically significant code differences but tiny effect sizes (η² ≈ 0.002).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" y="5146774"/>
            <a:ext cx="49530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Why it Matters: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Assigned priority codes explain less than 0.25% of the real variation in cost or downtime.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4598193"/>
            <a:ext cx="49530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Problem: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98.7% of high-cost, labor-intensive jobs remain hidden under standard Code 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5146774"/>
            <a:ext cx="49530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Why it Matters: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Critical jobs receive routine scheduling, causing delayed shop throughput and unmitigated fleet risk.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575" y="2060376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14425" y="2005607"/>
            <a:ext cx="3040380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b="0" sz="1650" i="0" u="none">
                <a:solidFill>
                  <a:srgbClr val="1E293B"/>
                </a:solidFill>
                <a:latin typeface="Poppins SemiBold"/>
              </a:rPr>
              <a:t>1. Priority Code Congestion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2060376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10375" y="2005607"/>
            <a:ext cx="3890486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b="0" sz="1650" i="0" u="none">
                <a:solidFill>
                  <a:srgbClr val="1E293B"/>
                </a:solidFill>
                <a:latin typeface="Poppins SemiBold"/>
              </a:rPr>
              <a:t>2. Operational Impact Blind Spots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4164806"/>
            <a:ext cx="4270533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b="0" sz="1650" i="0" u="none">
                <a:solidFill>
                  <a:srgbClr val="1E293B"/>
                </a:solidFill>
                <a:latin typeface="Poppins SemiBold"/>
              </a:rPr>
              <a:t>3. Negligible Practical Differentiation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4219575"/>
            <a:ext cx="285750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67525" y="4164806"/>
            <a:ext cx="3770471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b="0" sz="1650" i="0" u="none">
                <a:solidFill>
                  <a:srgbClr val="1E293B"/>
                </a:solidFill>
                <a:latin typeface="Poppins SemiBold"/>
              </a:rPr>
              <a:t>4. Hidden High-Risk Work Orders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419100"/>
            <a:ext cx="11658600" cy="423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b="0" sz="2550" i="0" u="none">
                <a:solidFill>
                  <a:srgbClr val="0F172A"/>
                </a:solidFill>
                <a:latin typeface="Poppins SemiBold"/>
              </a:rPr>
              <a:t>Coarse Triage &amp; Priority Congestion Impair Fleet Operations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3400" y="938212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400" y="1798885"/>
            <a:ext cx="11125200" cy="4026842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1798885"/>
          <a:ext cx="11115673" cy="4026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78918"/>
                <a:gridCol w="3334642"/>
                <a:gridCol w="5002113"/>
              </a:tblGrid>
              <a:tr h="671140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Identified Problem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Analytical Model / Activity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What It Helps Answer &amp; Solve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7114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Code Congestion</a:t>
                      </a:r>
                      <a:r>
                        <a:t>
</a:t>
                      </a:r>
                      <a:r>
                        <a:rPr b="0" sz="1200" i="0" u="none">
                          <a:solidFill>
                            <a:srgbClr val="64748B"/>
                          </a:solidFill>
                          <a:latin typeface="Lato"/>
                        </a:rPr>
                        <a:t>98.31% orders in Code 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Priority Distribution EDA &amp; Chi-Square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Establishes the empirical baseline of dispatcher coding concentration and demonstrates extreme category skew.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114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Impact Blind Spots</a:t>
                      </a:r>
                      <a:r>
                        <a:t>
</a:t>
                      </a:r>
                      <a:r>
                        <a:rPr b="0" sz="1200" i="0" u="none">
                          <a:solidFill>
                            <a:srgbClr val="64748B"/>
                          </a:solidFill>
                          <a:latin typeface="Lato"/>
                        </a:rPr>
                        <a:t>Cost vs. downtime mismatch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Pareto &amp; Dual-Threshold Feature Design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Defines a composite HIGH_IMPACT metric (top 15% cost or downtime) to capture total operational disruption.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7114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Ineffective Triage</a:t>
                      </a:r>
                      <a:r>
                        <a:t>
</a:t>
                      </a:r>
                      <a:r>
                        <a:rPr b="0" sz="1200" i="0" u="none">
                          <a:solidFill>
                            <a:srgbClr val="64748B"/>
                          </a:solidFill>
                          <a:latin typeface="Lato"/>
                        </a:rPr>
                        <a:t>Current codes lack signal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One-Way ANOVA &amp; Effect Size (η²)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Proves that despite p &lt; 0.001, priority code explains &lt; 0.25% variance, justifying an analytical screening layer.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114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Hidden Operational Profiles</a:t>
                      </a:r>
                      <a:r>
                        <a:t>
</a:t>
                      </a:r>
                      <a:r>
                        <a:rPr b="0" sz="1200" i="0" u="none">
                          <a:solidFill>
                            <a:srgbClr val="64748B"/>
                          </a:solidFill>
                          <a:latin typeface="Lato"/>
                        </a:rPr>
                        <a:t>Unseen resource heavy jobs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K-Means Clustering (K=4)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Uncovers 4 distinct operational profiles (including labor-heavy jobs) buried inside standard priority codes.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7114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Early Triage Deficit</a:t>
                      </a:r>
                      <a:r>
                        <a:t>
</a:t>
                      </a:r>
                      <a:r>
                        <a:rPr b="0" sz="1200" i="0" u="none">
                          <a:solidFill>
                            <a:srgbClr val="64748B"/>
                          </a:solidFill>
                          <a:latin typeface="Lato"/>
                        </a:rPr>
                        <a:t>Need early risk warning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MLR &amp; Logistic Risk Classifier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Quantifies early cost drivers and provides an actionable risk screening model achieving 70.6% recall.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38162" y="2969418"/>
            <a:ext cx="2778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17081" y="2969418"/>
            <a:ext cx="33346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51724" y="2969418"/>
            <a:ext cx="50021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8162" y="3679924"/>
            <a:ext cx="2778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17081" y="3679924"/>
            <a:ext cx="33346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51724" y="3679924"/>
            <a:ext cx="50021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8162" y="4390429"/>
            <a:ext cx="2778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7081" y="4390429"/>
            <a:ext cx="33346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51724" y="4390429"/>
            <a:ext cx="50021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8162" y="5100935"/>
            <a:ext cx="2778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7081" y="5100935"/>
            <a:ext cx="33346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51724" y="5100935"/>
            <a:ext cx="50021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8162" y="5811440"/>
            <a:ext cx="2778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17081" y="5811440"/>
            <a:ext cx="33346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51724" y="5811440"/>
            <a:ext cx="50021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3400" y="419100"/>
            <a:ext cx="11658600" cy="423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b="0" sz="2550" i="0" u="none">
                <a:solidFill>
                  <a:srgbClr val="0F172A"/>
                </a:solidFill>
                <a:latin typeface="Poppins SemiBold"/>
              </a:rPr>
              <a:t>Mapping Core Business Problems to Analytical Methods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938212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857375"/>
            <a:ext cx="2638425" cy="1266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2325" y="1857375"/>
            <a:ext cx="2638425" cy="1266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857375"/>
            <a:ext cx="2638425" cy="1266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175" y="1857375"/>
            <a:ext cx="2638425" cy="1266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352800"/>
            <a:ext cx="5429250" cy="241443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9350" y="3352800"/>
            <a:ext cx="5429250" cy="241443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4241452"/>
            <a:ext cx="4953000" cy="4667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475" y="2076450"/>
            <a:ext cx="22002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b="1" sz="3150" i="0" u="none">
                <a:solidFill>
                  <a:srgbClr val="4F46E5"/>
                </a:solidFill>
                <a:latin typeface="Poppins"/>
              </a:rPr>
              <a:t>332,372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475" y="2533650"/>
            <a:ext cx="22002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293B"/>
                </a:solidFill>
                <a:latin typeface="Lato"/>
              </a:rPr>
              <a:t>CLEANED OBSERVATIONS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475" y="2743200"/>
            <a:ext cx="22002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Lato"/>
              </a:rPr>
              <a:t>From 332,420 raw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1400" y="2076450"/>
            <a:ext cx="22002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b="1" sz="3150" i="0" u="none">
                <a:solidFill>
                  <a:srgbClr val="4F46E5"/>
                </a:solidFill>
                <a:latin typeface="Poppins"/>
              </a:rPr>
              <a:t>8,353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1400" y="2533650"/>
            <a:ext cx="22002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293B"/>
                </a:solidFill>
                <a:latin typeface="Lato"/>
              </a:rPr>
              <a:t>EQUIPMENT UNITS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1400" y="2743200"/>
            <a:ext cx="22002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Lato"/>
              </a:rPr>
              <a:t>Across municipal departments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0325" y="2076450"/>
            <a:ext cx="22002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b="1" sz="3150" i="0" u="none">
                <a:solidFill>
                  <a:srgbClr val="4F46E5"/>
                </a:solidFill>
                <a:latin typeface="Poppins"/>
              </a:rPr>
              <a:t>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0325" y="2533650"/>
            <a:ext cx="22002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293B"/>
                </a:solidFill>
                <a:latin typeface="Lato"/>
              </a:rPr>
              <a:t>RAW VARIABLES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2743200"/>
            <a:ext cx="22002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Lato"/>
              </a:rPr>
              <a:t>Costs, hours, job types, 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0" y="2076450"/>
            <a:ext cx="22002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b="1" sz="3150" i="0" u="none">
                <a:solidFill>
                  <a:srgbClr val="4F46E5"/>
                </a:solidFill>
                <a:latin typeface="Poppins"/>
              </a:rPr>
              <a:t>25.31%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0" y="2533650"/>
            <a:ext cx="22002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293B"/>
                </a:solidFill>
                <a:latin typeface="Lato"/>
              </a:rPr>
              <a:t>HIGH-IMPACT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0" y="2743200"/>
            <a:ext cx="22002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Lato"/>
              </a:rPr>
              <a:t>84,123 flagged work orders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475" y="3571875"/>
            <a:ext cx="5240655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b="0" sz="1650" i="0" u="none">
                <a:solidFill>
                  <a:srgbClr val="1E293B"/>
                </a:solidFill>
                <a:latin typeface="Poppins SemiBold"/>
              </a:rPr>
              <a:t>Primary Data Source &amp;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6525" y="3571875"/>
            <a:ext cx="5200650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b="0" sz="1650" i="0" u="none">
                <a:solidFill>
                  <a:srgbClr val="1E293B"/>
                </a:solidFill>
                <a:latin typeface="Poppins SemiBold"/>
              </a:rPr>
              <a:t>Primary Operational Target Variable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6525" y="3910012"/>
            <a:ext cx="495300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HIGH_IMPACT (Engineered Binary Target):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6525" y="4803427"/>
            <a:ext cx="4953000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Lato"/>
              </a:rPr>
              <a:t>Calculated as exceeding the 85th percentile threshold on either cost or total vehicle downtime.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175" y="3910012"/>
            <a:ext cx="472440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Source: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City of Cincinnati Open Data Portal (Dataset ID: 2a8x-bxjm).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175" y="4260502"/>
            <a:ext cx="472440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Scope: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Complete fleet preventative maintenance &amp; repair records.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175" y="4610992"/>
            <a:ext cx="47244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Core Job Types: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Preventative Maintenance (PM) vs. Unplanned REPAIR.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175" y="5197673"/>
            <a:ext cx="472440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Triage Mechanism: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PRI_PRIORITY_CODE (dispatcher assigned 1 to 4).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6075" y="4403377"/>
            <a:ext cx="3800772" cy="14287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33400" y="419100"/>
            <a:ext cx="11658600" cy="423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b="0" sz="2550" i="0" u="none">
                <a:solidFill>
                  <a:srgbClr val="0F172A"/>
                </a:solidFill>
                <a:latin typeface="Poppins SemiBold"/>
              </a:rPr>
              <a:t>Dataset Overview: 332,372 Cleaned Work Orders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3400" y="938212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475" y="3929062"/>
            <a:ext cx="114300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475" y="4279552"/>
            <a:ext cx="114300" cy="1428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475" y="4630042"/>
            <a:ext cx="114300" cy="1428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475" y="5216723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400" y="1443632"/>
            <a:ext cx="11125200" cy="4737348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1443632"/>
          <a:ext cx="11115674" cy="4737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78918"/>
                <a:gridCol w="3890367"/>
                <a:gridCol w="4446389"/>
              </a:tblGrid>
              <a:tr h="676764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Variable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Technical &amp; Operational Meaning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Business Relevance &amp; Risk Context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76764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TOTAL_COST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Sum of labor cost, parts cost, and commercial cost per work order.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Direct financial maintenance burden on the municipal budget.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6764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TOTAL_DOWNTIME_HOURS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Combined total of user downtime and shop repair downtime.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Measures vehicle availability and operational disruption to public services.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76764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PRI_PRIORITY_CODE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Dispatcher-assigned urgency code ranging from 1 (Highest) to 4 (Lowest).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Current operational triage signal being evaluated for effectiveness.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6764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JOB_TYPE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Categorical indicator of work scope: PM (Preventative) vs. REPAIR.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Strong early indicator of expected cost, labor hours, and failure severity.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76764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EQUIP_PRIOR_AVG_COST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Historical average maintenance cost for the specific equipment unit.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Forward-looking equipment risk signal capturing aging asset health.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6764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DEPT_AVG_COST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Train-only encoded department-level average maintenance cost.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Captures operational intensity differences across departments (e.g., Police vs Parks).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38162" y="2614166"/>
            <a:ext cx="2778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17081" y="2614166"/>
            <a:ext cx="38903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07448" y="2614166"/>
            <a:ext cx="44463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8162" y="3324671"/>
            <a:ext cx="2778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17081" y="3324671"/>
            <a:ext cx="38903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07448" y="3324671"/>
            <a:ext cx="44463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8162" y="4035176"/>
            <a:ext cx="2778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7081" y="4035176"/>
            <a:ext cx="38903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07448" y="4035176"/>
            <a:ext cx="44463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8162" y="4745682"/>
            <a:ext cx="2778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7081" y="4745682"/>
            <a:ext cx="38903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07448" y="4745682"/>
            <a:ext cx="44463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8162" y="5456187"/>
            <a:ext cx="2778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17081" y="5456187"/>
            <a:ext cx="38903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07448" y="5456187"/>
            <a:ext cx="44463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8162" y="6166693"/>
            <a:ext cx="2778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17081" y="6166693"/>
            <a:ext cx="38903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07448" y="6166693"/>
            <a:ext cx="44463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400" y="419100"/>
            <a:ext cx="11658600" cy="423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b="0" sz="2550" i="0" u="none">
                <a:solidFill>
                  <a:srgbClr val="0F172A"/>
                </a:solidFill>
                <a:latin typeface="Poppins SemiBold"/>
              </a:rPr>
              <a:t>Core Features Balance Financial &amp; Operational Risk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938212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687192"/>
            <a:ext cx="11125200" cy="8810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056507"/>
            <a:ext cx="2531268" cy="104864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8043" y="2056507"/>
            <a:ext cx="2531268" cy="104864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687" y="2056507"/>
            <a:ext cx="2531268" cy="104864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7331" y="2056507"/>
            <a:ext cx="2531268" cy="104864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3371850"/>
            <a:ext cx="2531268" cy="104864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8043" y="3371850"/>
            <a:ext cx="2531268" cy="104864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2687" y="3371850"/>
            <a:ext cx="2531268" cy="104864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27331" y="3371850"/>
            <a:ext cx="2531268" cy="104864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65684" y="2218432"/>
            <a:ext cx="2667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30328" y="2218432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94971" y="2218432"/>
            <a:ext cx="266700" cy="266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59615" y="2218432"/>
            <a:ext cx="2667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65684" y="3533775"/>
            <a:ext cx="2667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30328" y="3533775"/>
            <a:ext cx="266700" cy="266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94971" y="3533775"/>
            <a:ext cx="266700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259615" y="3533775"/>
            <a:ext cx="266700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178968" y="2495103"/>
            <a:ext cx="104775" cy="171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43612" y="2495103"/>
            <a:ext cx="104775" cy="1714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08256" y="2495103"/>
            <a:ext cx="104775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78968" y="3810446"/>
            <a:ext cx="104775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43612" y="3810446"/>
            <a:ext cx="104775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908256" y="3810446"/>
            <a:ext cx="104775" cy="171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90575" y="4906267"/>
            <a:ext cx="1064895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065F46"/>
                </a:solidFill>
                <a:latin typeface="Lato"/>
              </a:rPr>
              <a:t>Methodological Rigor:</a:t>
            </a:r>
            <a:r>
              <a:rPr b="0" sz="1125" i="0" u="none">
                <a:solidFill>
                  <a:srgbClr val="065F46"/>
                </a:solidFill>
                <a:latin typeface="Lato"/>
              </a:rPr>
              <a:t> All modeling excludes post-repair variables (e.g., labor hours) known only after work completion, ensuring predictive models solve real early-prioritization challenges.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134" y="2561332"/>
            <a:ext cx="2397799" cy="166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b="1" sz="1050" i="0" u="none">
                <a:solidFill>
                  <a:srgbClr val="0F172A"/>
                </a:solidFill>
                <a:latin typeface="Poppins"/>
              </a:rPr>
              <a:t>Data Collection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" y="2766119"/>
            <a:ext cx="2283618" cy="1771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95"/>
              </a:lnSpc>
            </a:pPr>
            <a:r>
              <a:rPr b="0" sz="900" i="0" u="none">
                <a:solidFill>
                  <a:srgbClr val="64748B"/>
                </a:solidFill>
                <a:latin typeface="Lato"/>
              </a:rPr>
              <a:t>332K+ Open Data Records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64778" y="2561332"/>
            <a:ext cx="2397799" cy="166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b="1" sz="1050" i="0" u="none">
                <a:solidFill>
                  <a:srgbClr val="0F172A"/>
                </a:solidFill>
                <a:latin typeface="Poppins"/>
              </a:rPr>
              <a:t>Cleaning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1868" y="2766119"/>
            <a:ext cx="2283618" cy="1771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95"/>
              </a:lnSpc>
            </a:pPr>
            <a:r>
              <a:rPr b="0" sz="900" i="0" u="none">
                <a:solidFill>
                  <a:srgbClr val="64748B"/>
                </a:solidFill>
                <a:latin typeface="Lato"/>
              </a:rPr>
              <a:t>Remove 48 Invalid Rows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9422" y="2561332"/>
            <a:ext cx="2397799" cy="166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b="1" sz="1050" i="0" u="none">
                <a:solidFill>
                  <a:srgbClr val="0F172A"/>
                </a:solidFill>
                <a:latin typeface="Poppins"/>
              </a:rPr>
              <a:t>EDA &amp; Pareto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6512" y="2766119"/>
            <a:ext cx="2283618" cy="1771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95"/>
              </a:lnSpc>
            </a:pPr>
            <a:r>
              <a:rPr b="0" sz="900" i="0" u="none">
                <a:solidFill>
                  <a:srgbClr val="64748B"/>
                </a:solidFill>
                <a:latin typeface="Lato"/>
              </a:rPr>
              <a:t>Cost &amp; Downtime Distributions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94065" y="2561332"/>
            <a:ext cx="2397799" cy="166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b="1" sz="1050" i="0" u="none">
                <a:solidFill>
                  <a:srgbClr val="0F172A"/>
                </a:solidFill>
                <a:latin typeface="Poppins"/>
              </a:rPr>
              <a:t>Feature Eng.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1156" y="2766119"/>
            <a:ext cx="2283618" cy="1771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95"/>
              </a:lnSpc>
            </a:pPr>
            <a:r>
              <a:rPr b="0" sz="900" i="0" u="none">
                <a:solidFill>
                  <a:srgbClr val="64748B"/>
                </a:solidFill>
                <a:latin typeface="Lato"/>
              </a:rPr>
              <a:t>Prior History (No Leakage)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134" y="3876675"/>
            <a:ext cx="2397799" cy="166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b="1" sz="1050" i="0" u="none">
                <a:solidFill>
                  <a:srgbClr val="0F172A"/>
                </a:solidFill>
                <a:latin typeface="Poppins"/>
              </a:rPr>
              <a:t>Stat Testing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7225" y="4081462"/>
            <a:ext cx="2283618" cy="1771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95"/>
              </a:lnSpc>
            </a:pPr>
            <a:r>
              <a:rPr b="0" sz="900" i="0" u="none">
                <a:solidFill>
                  <a:srgbClr val="64748B"/>
                </a:solidFill>
                <a:latin typeface="Lato"/>
              </a:rPr>
              <a:t>ANOVA &amp; Effect Size (η²)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64778" y="3876675"/>
            <a:ext cx="2397799" cy="166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b="1" sz="1050" i="0" u="none">
                <a:solidFill>
                  <a:srgbClr val="0F172A"/>
                </a:solidFill>
                <a:latin typeface="Poppins"/>
              </a:rPr>
              <a:t>Modeling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1868" y="4081462"/>
            <a:ext cx="2283618" cy="1771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95"/>
              </a:lnSpc>
            </a:pPr>
            <a:r>
              <a:rPr b="0" sz="900" i="0" u="none">
                <a:solidFill>
                  <a:srgbClr val="64748B"/>
                </a:solidFill>
                <a:latin typeface="Lato"/>
              </a:rPr>
              <a:t>K-Means / MLR / Logistic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9422" y="3876675"/>
            <a:ext cx="2397799" cy="166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b="1" sz="1050" i="0" u="none">
                <a:solidFill>
                  <a:srgbClr val="0F172A"/>
                </a:solidFill>
                <a:latin typeface="Poppins"/>
              </a:rPr>
              <a:t>Diagnostics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6512" y="4081462"/>
            <a:ext cx="2283618" cy="1771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95"/>
              </a:lnSpc>
            </a:pPr>
            <a:r>
              <a:rPr b="0" sz="900" i="0" u="none">
                <a:solidFill>
                  <a:srgbClr val="64748B"/>
                </a:solidFill>
                <a:latin typeface="Lato"/>
              </a:rPr>
              <a:t>VIF, HC3, ROC Thresholds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4065" y="3876675"/>
            <a:ext cx="2397799" cy="166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b="1" sz="1050" i="0" u="none">
                <a:solidFill>
                  <a:srgbClr val="0F172A"/>
                </a:solidFill>
                <a:latin typeface="Poppins"/>
              </a:rPr>
              <a:t>Recommendations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51156" y="4081462"/>
            <a:ext cx="2283618" cy="1771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95"/>
              </a:lnSpc>
            </a:pPr>
            <a:r>
              <a:rPr b="1" sz="900" i="0" u="none">
                <a:solidFill>
                  <a:srgbClr val="1E293B"/>
                </a:solidFill>
                <a:latin typeface="Lato"/>
              </a:rPr>
              <a:t>Risk Screening Layer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3400" y="419100"/>
            <a:ext cx="11658600" cy="423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b="0" sz="2550" i="0" u="none">
                <a:solidFill>
                  <a:srgbClr val="0F172A"/>
                </a:solidFill>
                <a:latin typeface="Poppins SemiBold"/>
              </a:rPr>
              <a:t>Eight-Stage Analytical Framework Ensures Rigorous Output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3400" y="938212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693741"/>
            <a:ext cx="11125200" cy="1228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702147"/>
            <a:ext cx="5429250" cy="280109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1702147"/>
            <a:ext cx="5429250" cy="28010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575" y="4912816"/>
            <a:ext cx="11181397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b="0" sz="1650" i="0" u="none">
                <a:solidFill>
                  <a:srgbClr val="1E293B"/>
                </a:solidFill>
                <a:latin typeface="Poppins SemiBold"/>
              </a:rPr>
              <a:t>Leakage Control Safeguard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575" y="5250953"/>
            <a:ext cx="10648950" cy="452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Predictive models explicitly exclude 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LABOR_HOURS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, 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PARTS_COST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, and direct components of total cost. Including them would re-derive the target rather than answer the real managerial question: </a:t>
            </a:r>
            <a:r>
              <a:rPr b="0" sz="1125" i="1" u="none">
                <a:solidFill>
                  <a:srgbClr val="475569"/>
                </a:solidFill>
                <a:latin typeface="Lato"/>
              </a:rPr>
              <a:t>Can we screen risk early at work order creation?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2475" y="1921222"/>
            <a:ext cx="5240655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b="0" sz="1650" i="0" u="none">
                <a:solidFill>
                  <a:srgbClr val="1E293B"/>
                </a:solidFill>
                <a:latin typeface="Poppins SemiBold"/>
              </a:rPr>
              <a:t>1. Cleaning &amp; Outlier Handling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8425" y="1921222"/>
            <a:ext cx="5240655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b="0" sz="1650" i="0" u="none">
                <a:solidFill>
                  <a:srgbClr val="1E293B"/>
                </a:solidFill>
                <a:latin typeface="Poppins SemiBold"/>
              </a:rPr>
              <a:t>2. Feature Engineering &amp; 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175" y="2259359"/>
            <a:ext cx="47244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Negative Value Removal: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48 records with negative cost or labor hours were removed as invalid.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75" y="2846040"/>
            <a:ext cx="4724400" cy="481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Sparse Column Removal: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Column 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REF_WORK_ORDER_NO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dropped due to ~99.9% missing values.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3442245"/>
            <a:ext cx="47244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No Row Duplicates: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Zero exact duplicate work-order rows found in dataset.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5125" y="2259359"/>
            <a:ext cx="4724400" cy="727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Equipment History: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Derived 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EQUIP_PRIOR_WO_COUNT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and 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EQUIP_PRIOR_AVG_COST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strictly from prior chronological work orders.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5125" y="3101280"/>
            <a:ext cx="4724400" cy="481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Combined Downtime: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Aggregated user downtime and shop downtime into 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TOTAL_DOWNTIME_HOURS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5125" y="3697485"/>
            <a:ext cx="47244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Department Encoding: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Target-encoded using training split only to avoid data leakage.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419100"/>
            <a:ext cx="11658600" cy="423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b="0" sz="2550" i="0" u="none">
                <a:solidFill>
                  <a:srgbClr val="0F172A"/>
                </a:solidFill>
                <a:latin typeface="Poppins SemiBold"/>
              </a:rPr>
              <a:t>Data Preparation &amp; Strict Leakage Control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3400" y="938212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278409"/>
            <a:ext cx="11430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865090"/>
            <a:ext cx="11430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461295"/>
            <a:ext cx="11430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2278409"/>
            <a:ext cx="114300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3120330"/>
            <a:ext cx="114300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3716535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2256234"/>
            <a:ext cx="5429250" cy="31122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256234"/>
            <a:ext cx="5429250" cy="1171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618309"/>
            <a:ext cx="5429250" cy="17502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48425" y="2645122"/>
            <a:ext cx="5240655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b="0" sz="1650" i="0" u="none">
                <a:solidFill>
                  <a:srgbClr val="1E293B"/>
                </a:solidFill>
                <a:latin typeface="Poppins SemiBold"/>
              </a:rPr>
              <a:t>Business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575" y="3837384"/>
            <a:ext cx="495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700" i="0" u="none">
                <a:solidFill>
                  <a:srgbClr val="EF4444"/>
                </a:solidFill>
                <a:latin typeface="Poppins"/>
              </a:rPr>
              <a:t>r = 0.086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" y="4237434"/>
            <a:ext cx="4953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Lato"/>
              </a:rPr>
              <a:t>PEARSON CORRELATION COEFFICIENT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575" y="4485084"/>
            <a:ext cx="4953000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The correlation between Total Cost and Total Downtime is virtually zero. Expensive jobs are not necessarily the same jobs that disrupt equipment availability.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5125" y="2983259"/>
            <a:ext cx="47244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Dual Impact Nature: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Operational disruption occurs in two distinct ways—high financial cost or severe vehicle unavailability.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5125" y="3569940"/>
            <a:ext cx="4724400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Cost-Only Flaw: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A priority system focused purely on repair cost would miss low-cost jobs that lock up vital public service vehicles for hundreds of hours.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5125" y="4392810"/>
            <a:ext cx="47244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Dual Target Required: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Triage must evaluate cost and downtime as complementary risk dimensions.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3002309"/>
            <a:ext cx="114300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3588990"/>
            <a:ext cx="114300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4411860"/>
            <a:ext cx="114300" cy="1428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06388" y="2475309"/>
            <a:ext cx="1238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1" sz="2400" i="0" u="none">
                <a:solidFill>
                  <a:srgbClr val="4F46E5"/>
                </a:solidFill>
                <a:latin typeface="Poppins"/>
              </a:rPr>
              <a:t>$563.82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388" y="2837259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293B"/>
                </a:solidFill>
                <a:latin typeface="Lato"/>
              </a:rPr>
              <a:t>MEAN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388" y="3046809"/>
            <a:ext cx="1238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Lato"/>
              </a:rPr>
              <a:t>Median: $182.62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0114" y="2475309"/>
            <a:ext cx="1619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1" sz="2400" i="0" u="none">
                <a:solidFill>
                  <a:srgbClr val="0284C7"/>
                </a:solidFill>
                <a:latin typeface="Poppins"/>
              </a:rPr>
              <a:t>388.52 hrs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0114" y="2837259"/>
            <a:ext cx="1619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293B"/>
                </a:solidFill>
                <a:latin typeface="Lato"/>
              </a:rPr>
              <a:t>MEAN DOWNTIME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0114" y="3046809"/>
            <a:ext cx="1619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Lato"/>
              </a:rPr>
              <a:t>Median: 34.56 hrs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419100"/>
            <a:ext cx="11658600" cy="423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b="0" sz="2550" i="0" u="none">
                <a:solidFill>
                  <a:srgbClr val="0F172A"/>
                </a:solidFill>
                <a:latin typeface="Poppins SemiBold"/>
              </a:rPr>
              <a:t>Cost &amp; Downtime Are Independent Operational Burdens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3400" y="938212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02830"/>
            <a:ext cx="5429250" cy="281910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2402830"/>
            <a:ext cx="5429250" cy="281910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4122985"/>
            <a:ext cx="4953000" cy="8798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575" y="2621905"/>
            <a:ext cx="495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4F46E5"/>
                </a:solidFill>
                <a:latin typeface="Poppins"/>
              </a:rPr>
              <a:t>19.1%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575" y="3136255"/>
            <a:ext cx="4953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Lato"/>
              </a:rPr>
              <a:t>FLEET ASSET CONCENTRATION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" y="3460105"/>
            <a:ext cx="49530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Pareto analysis reveals that just 1,595 equipment units out of 8,353 generate 80% of total maintenance expenditure.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8425" y="2621905"/>
            <a:ext cx="5240655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b="0" sz="1650" i="0" u="none">
                <a:solidFill>
                  <a:srgbClr val="1E293B"/>
                </a:solidFill>
                <a:latin typeface="Poppins SemiBold"/>
              </a:rPr>
              <a:t>Strategic Implications for Fleet Managers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46810"/>
            <a:ext cx="47053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Lato"/>
              </a:rPr>
              <a:t>Job Type Structural Signal: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65885"/>
            <a:ext cx="4705350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Lato"/>
              </a:rPr>
              <a:t>Unplanned REPAIR work orders average </a:t>
            </a:r>
            <a:r>
              <a:rPr b="1" sz="1050" i="0" u="none">
                <a:solidFill>
                  <a:srgbClr val="475569"/>
                </a:solidFill>
                <a:latin typeface="Lato"/>
              </a:rPr>
              <a:t>$670.44</a:t>
            </a:r>
            <a:r>
              <a:rPr b="0" sz="1050" i="0" u="none">
                <a:solidFill>
                  <a:srgbClr val="475569"/>
                </a:solidFill>
                <a:latin typeface="Lato"/>
              </a:rPr>
              <a:t>—more than 3x the cost of Preventative Maintenance (PM) at </a:t>
            </a:r>
            <a:r>
              <a:rPr b="1" sz="1050" i="0" u="none">
                <a:solidFill>
                  <a:srgbClr val="475569"/>
                </a:solidFill>
                <a:latin typeface="Lato"/>
              </a:rPr>
              <a:t>$213.34</a:t>
            </a:r>
            <a:r>
              <a:rPr b="0" sz="1050" i="0" u="none">
                <a:solidFill>
                  <a:srgbClr val="475569"/>
                </a:solidFill>
                <a:latin typeface="Lato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5125" y="2960042"/>
            <a:ext cx="47244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Equipment Watchlist: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Chronic high-cost equipment units can be tracked on an automated watchlist for proactive intervention.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5125" y="3546723"/>
            <a:ext cx="4724400" cy="481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Early Job Type Signal: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JOB_TYPE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is known at work order intake and serves as an immediate structural indicator of risk.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5125" y="4142928"/>
            <a:ext cx="47244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Targeted Maintenance: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Focusing predictive screening on high-frequency, high-cost assets provides maximum financial leverage.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419100"/>
            <a:ext cx="11658600" cy="423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b="0" sz="2550" i="0" u="none">
                <a:solidFill>
                  <a:srgbClr val="0F172A"/>
                </a:solidFill>
                <a:latin typeface="Poppins SemiBold"/>
              </a:rPr>
              <a:t>19.1% of Equipment Units Drive 80% of Maintenance Cost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938212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2979092"/>
            <a:ext cx="11430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3565773"/>
            <a:ext cx="11430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4161978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875782"/>
            <a:ext cx="11125200" cy="127337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475607"/>
            <a:ext cx="3555950" cy="1171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7950" y="2475607"/>
            <a:ext cx="3555950" cy="1171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2500" y="2475607"/>
            <a:ext cx="3556099" cy="1171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2475" y="4094857"/>
            <a:ext cx="11221402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b="0" sz="1650" i="0" u="none">
                <a:solidFill>
                  <a:srgbClr val="1E293B"/>
                </a:solidFill>
                <a:latin typeface="Poppins SemiBold"/>
              </a:rPr>
              <a:t>Key Takeaway from Target Composition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2475" y="4432994"/>
            <a:ext cx="10687050" cy="497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Only </a:t>
            </a:r>
            <a:r>
              <a:rPr b="1" sz="1200" i="0" u="none">
                <a:solidFill>
                  <a:srgbClr val="475569"/>
                </a:solidFill>
                <a:latin typeface="Lato"/>
              </a:rPr>
              <a:t>18.5%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of high-impact work orders exceed both the cost and downtime 85th percentile cutoffs simultaneously. This confirms that maintenance cost and downtime capture fundamentally different dimensions of operational burden. Combining them into 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HIGH_IMPACT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ensures comprehensive risk screening.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2694682"/>
            <a:ext cx="3117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1" sz="2400" i="0" u="none">
                <a:solidFill>
                  <a:srgbClr val="4F46E5"/>
                </a:solidFill>
                <a:latin typeface="Poppins"/>
              </a:rPr>
              <a:t>34,162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" y="3056632"/>
            <a:ext cx="3117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293B"/>
                </a:solidFill>
                <a:latin typeface="Lato"/>
              </a:rPr>
              <a:t>HIGH COST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475" y="3266182"/>
            <a:ext cx="3117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Lato"/>
              </a:rPr>
              <a:t>Cost &gt; $771.77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7025" y="2694682"/>
            <a:ext cx="3117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1" sz="2400" i="0" u="none">
                <a:solidFill>
                  <a:srgbClr val="0284C7"/>
                </a:solidFill>
                <a:latin typeface="Poppins"/>
              </a:rPr>
              <a:t>34,163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7025" y="3056632"/>
            <a:ext cx="3117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293B"/>
                </a:solidFill>
                <a:latin typeface="Lato"/>
              </a:rPr>
              <a:t>HIGH DOWNTIME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7025" y="3266182"/>
            <a:ext cx="3117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Lato"/>
              </a:rPr>
              <a:t>Downtime &gt; 475.25 hrs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9675" y="2694682"/>
            <a:ext cx="30798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1" sz="2400" i="0" u="none">
                <a:solidFill>
                  <a:srgbClr val="10B981"/>
                </a:solidFill>
                <a:latin typeface="Poppins"/>
              </a:rPr>
              <a:t>15,798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9675" y="3056632"/>
            <a:ext cx="307984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293B"/>
                </a:solidFill>
                <a:latin typeface="Lato"/>
              </a:rPr>
              <a:t>BOTH THRESHOLDS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9675" y="3266182"/>
            <a:ext cx="307984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Lato"/>
              </a:rPr>
              <a:t>High Cost &amp; Downtime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419100"/>
            <a:ext cx="11658600" cy="423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b="0" sz="2550" i="0" u="none">
                <a:solidFill>
                  <a:srgbClr val="0F172A"/>
                </a:solidFill>
                <a:latin typeface="Poppins SemiBold"/>
              </a:rPr>
              <a:t>Dual-Threshold Rule Identifies 25.31% High-Impact Cases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3400" y="938212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943248"/>
            <a:ext cx="5429250" cy="373826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1943248"/>
            <a:ext cx="5429250" cy="373826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2831901"/>
            <a:ext cx="4953000" cy="4676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2475" y="2162323"/>
            <a:ext cx="5240655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b="0" sz="1650" i="0" u="none">
                <a:solidFill>
                  <a:srgbClr val="1E293B"/>
                </a:solidFill>
                <a:latin typeface="Poppins SemiBold"/>
              </a:rPr>
              <a:t>Analytical 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2475" y="2500461"/>
            <a:ext cx="49911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Determine whether existing priority codes and job types reflect real differences in realized operational outcomes.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525" y="2162323"/>
            <a:ext cx="5200650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b="0" sz="1650" i="0" u="none">
                <a:solidFill>
                  <a:srgbClr val="1E293B"/>
                </a:solidFill>
                <a:latin typeface="Poppins SemiBold"/>
              </a:rPr>
              <a:t>Diagnostic Metrics &amp; Formulas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6525" y="2500461"/>
            <a:ext cx="495300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Eta-Squared (η²) Effect Size Formula: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525" y="3394769"/>
            <a:ext cx="4953000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Lato"/>
              </a:rPr>
              <a:t>Interpretation Scale:</a:t>
            </a:r>
            <a:r>
              <a:rPr b="0" sz="1050" i="0" u="none">
                <a:solidFill>
                  <a:srgbClr val="475569"/>
                </a:solidFill>
                <a:latin typeface="Lato"/>
              </a:rPr>
              <a:t> η² ≈ 0.01 (Small), η² ≈ 0.06 (Medium), η² ≈ 0.14 (Large). Tests whether statistical significance translates into managerial utility.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75" y="3087141"/>
            <a:ext cx="4724400" cy="481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One-Way ANOVA: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Tests mean differences in cost and downtime across 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PRI_PRIORITY_CODE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(1–4).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3683347"/>
            <a:ext cx="47244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Effect Size (η²):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Evaluates practical magnitude of priority code differentiation.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175" y="4270027"/>
            <a:ext cx="47244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Two-Sample T-Test: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Compares labor hours and duration across high-impact vs normal jobs.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4856708"/>
            <a:ext cx="472440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Chi-Square Test: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Assesses association between 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JOB_TYPE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and 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HIGH_IMPACT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6075" y="2980134"/>
            <a:ext cx="727918" cy="2050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400" y="419100"/>
            <a:ext cx="11658600" cy="423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b="0" sz="2550" i="0" u="none">
                <a:solidFill>
                  <a:srgbClr val="0F172A"/>
                </a:solidFill>
                <a:latin typeface="Poppins SemiBold"/>
              </a:rPr>
              <a:t>Technique 1: Statistical Testing (ANOVA &amp; T-Tests)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3400" y="938212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3106191"/>
            <a:ext cx="11430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3702397"/>
            <a:ext cx="11430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4289077"/>
            <a:ext cx="11430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4875758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787973"/>
            <a:ext cx="5429250" cy="16621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3787973"/>
            <a:ext cx="5429250" cy="166211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3400" y="2174527"/>
            <a:ext cx="11125200" cy="142294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2174527"/>
          <a:ext cx="11115673" cy="1422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652117"/>
                <a:gridCol w="1968549"/>
                <a:gridCol w="1275010"/>
                <a:gridCol w="2884735"/>
                <a:gridCol w="2335262"/>
              </a:tblGrid>
              <a:tr h="474315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Outcome Variable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ANOVA F-Statistic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p-value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Eta-Squared (η²) Effect Size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Practical Meaning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7431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TOTAL_COST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152.57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8.15 × 10⁻⁹⁹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0.0014</a:t>
                      </a:r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 (0.14%)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Negligible practical impact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431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TOTAL_DOWNTIME_HOURS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250.90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1.20 × 10⁻¹⁶²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0.0023</a:t>
                      </a:r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 (0.23%)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Negligible practical impact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38162" y="3108870"/>
            <a:ext cx="26521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90279" y="3108870"/>
            <a:ext cx="19685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58829" y="3108870"/>
            <a:ext cx="1275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33839" y="3108870"/>
            <a:ext cx="2884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18575" y="3108870"/>
            <a:ext cx="23352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8162" y="3583185"/>
            <a:ext cx="26521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90279" y="3583185"/>
            <a:ext cx="19685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58829" y="3583185"/>
            <a:ext cx="1275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33839" y="3583185"/>
            <a:ext cx="2884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18575" y="3583185"/>
            <a:ext cx="23352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575" y="4007048"/>
            <a:ext cx="495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3000" i="0" u="none">
                <a:solidFill>
                  <a:srgbClr val="4F46E5"/>
                </a:solidFill>
                <a:latin typeface="Poppins"/>
              </a:rPr>
              <a:t>98.31%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575" y="4445198"/>
            <a:ext cx="4953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Lato"/>
              </a:rPr>
              <a:t>PRIORITY CODE 3 CONCENTRATION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575" y="4654748"/>
            <a:ext cx="4953000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Lato"/>
              </a:rPr>
              <a:t>Code 1: 0.82% • Code 2: 0.53% • Code 4: 0.34%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8425" y="4007048"/>
            <a:ext cx="5240655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b="0" sz="1650" i="0" u="none">
                <a:solidFill>
                  <a:srgbClr val="1E293B"/>
                </a:solidFill>
                <a:latin typeface="Poppins SemiBold"/>
              </a:rPr>
              <a:t>Business 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8425" y="4345185"/>
            <a:ext cx="4991100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With 332K+ records, even microscopic differences produce extreme p-values. However, effect sizes (η² &lt; 0.25%) prove priority codes explain almost no real variance in cost or downtime. The priority system fails to differentiate work orders in practice.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419100"/>
            <a:ext cx="11658600" cy="423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b="0" sz="2550" i="0" u="none">
                <a:solidFill>
                  <a:srgbClr val="0F172A"/>
                </a:solidFill>
                <a:latin typeface="Poppins SemiBold"/>
              </a:rPr>
              <a:t>Priority Codes Offer Virtually Zero Practical Differentiation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3400" y="938212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368897"/>
            <a:ext cx="5429250" cy="288681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2368897"/>
            <a:ext cx="5429250" cy="288681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3257550"/>
            <a:ext cx="4953000" cy="4676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2475" y="2587972"/>
            <a:ext cx="5240655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b="0" sz="1650" i="0" u="none">
                <a:solidFill>
                  <a:srgbClr val="1E293B"/>
                </a:solidFill>
                <a:latin typeface="Poppins SemiBold"/>
              </a:rPr>
              <a:t>Analytical 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2475" y="2926109"/>
            <a:ext cx="49911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Discover hidden operational work-order profiles using unsupervised segmentation, independent of dispatcher priority codes.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525" y="2587972"/>
            <a:ext cx="5200650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b="0" sz="1650" i="0" u="none">
                <a:solidFill>
                  <a:srgbClr val="1E293B"/>
                </a:solidFill>
                <a:latin typeface="Poppins SemiBold"/>
              </a:rPr>
              <a:t>Cluster Optimization &amp; Scaling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6525" y="2926109"/>
            <a:ext cx="495300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Features scaled using Min-Max Normalization: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525" y="3820417"/>
            <a:ext cx="4953000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Lato"/>
              </a:rPr>
              <a:t>Ensures high-magnitude features (downtime hours) do not dominate smaller features (labor hours) during distance calculations.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75" y="3512790"/>
            <a:ext cx="47244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Feature Inputs: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Min-Max scaled Total Cost, Total Downtime, Labor Hours, Duration, and Delay.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4099470"/>
            <a:ext cx="472440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Cluster Optimization: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K = 4 selected via Elbow Method optimization.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175" y="4449960"/>
            <a:ext cx="47244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Objective: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Test whether distinct operational profiles exist within the dominant Priority Code 3.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6075" y="3405782"/>
            <a:ext cx="1144934" cy="2050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3400" y="419100"/>
            <a:ext cx="11658600" cy="423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b="0" sz="2550" i="0" u="none">
                <a:solidFill>
                  <a:srgbClr val="0F172A"/>
                </a:solidFill>
                <a:latin typeface="Poppins SemiBold"/>
              </a:rPr>
              <a:t>Technique 2: Unsupervised K-Means Clustering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938212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3531840"/>
            <a:ext cx="11430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4118520"/>
            <a:ext cx="11430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4469010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483744"/>
            <a:ext cx="11125200" cy="1219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33400" y="1921668"/>
            <a:ext cx="11125200" cy="2371576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3400" y="1921668"/>
          <a:ext cx="11115672" cy="2371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606998"/>
                <a:gridCol w="1569690"/>
                <a:gridCol w="1789062"/>
                <a:gridCol w="1754385"/>
                <a:gridCol w="2395537"/>
              </a:tblGrid>
              <a:tr h="474315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Cluster ID &amp; Profile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Work Orders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Avg Total Cost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Avg Downtime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Priority Code 3 Share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7431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Cluster 0: Routine / Low Burden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31,164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$172.00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172 hrs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98.1%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431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Cluster 1: Downtime-Heavy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3,579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$164.00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710 hrs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98.4%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7431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Cluster 2: High-Cost / Labor-Intensive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1,760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$1,262.00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453 hrs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DC2626"/>
                          </a:solidFill>
                          <a:latin typeface="Lato"/>
                        </a:rPr>
                        <a:t>98.7%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E2"/>
                    </a:solidFill>
                  </a:tcPr>
                </a:tc>
              </a:tr>
              <a:tr h="474316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Cluster 3: Scheduling-Delay Dominated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577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$823.00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18 hrs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97.9%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0575" y="4702819"/>
            <a:ext cx="11181397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b="0" sz="1650" i="0" u="none">
                <a:solidFill>
                  <a:srgbClr val="1E293B"/>
                </a:solidFill>
                <a:latin typeface="Poppins SemiBold"/>
              </a:rPr>
              <a:t>Key Segmentation 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575" y="5040957"/>
            <a:ext cx="1064895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Lato"/>
              </a:rPr>
              <a:t>98.7% of Cluster 2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 (the most expensive, labor-intensive work orders) is trapped inside Priority Code 3. Unsupervised segmentation proves from an independent angle that dispatcher priority codes fail to separate heavy maintenance from routine jobs.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8162" y="2856011"/>
            <a:ext cx="36069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45160" y="2856011"/>
            <a:ext cx="1569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4851" y="2856011"/>
            <a:ext cx="17890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03914" y="2856011"/>
            <a:ext cx="17543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58300" y="2856011"/>
            <a:ext cx="23955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8162" y="3330326"/>
            <a:ext cx="36069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45160" y="3330326"/>
            <a:ext cx="1569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4851" y="3330326"/>
            <a:ext cx="17890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03914" y="3330326"/>
            <a:ext cx="17543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58300" y="3330326"/>
            <a:ext cx="23955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8162" y="3804642"/>
            <a:ext cx="36069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45160" y="3804642"/>
            <a:ext cx="1569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4851" y="3804642"/>
            <a:ext cx="17890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03914" y="3804642"/>
            <a:ext cx="17543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300" y="3804642"/>
            <a:ext cx="23955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62" y="4278957"/>
            <a:ext cx="36069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45160" y="4278957"/>
            <a:ext cx="1569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14851" y="4278957"/>
            <a:ext cx="17890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03914" y="4278957"/>
            <a:ext cx="17543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58300" y="4278957"/>
            <a:ext cx="23955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3400" y="419100"/>
            <a:ext cx="11658600" cy="423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b="0" sz="2550" i="0" u="none">
                <a:solidFill>
                  <a:srgbClr val="0F172A"/>
                </a:solidFill>
                <a:latin typeface="Poppins SemiBold"/>
              </a:rPr>
              <a:t>Unsupervised Clusters Expose Trapped High-Burden Jobs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3400" y="938212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250876"/>
            <a:ext cx="5429250" cy="312300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2250876"/>
            <a:ext cx="5429250" cy="312300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2827139"/>
            <a:ext cx="4953000" cy="5095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2475" y="2469951"/>
            <a:ext cx="5240655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b="0" sz="1650" i="0" u="none">
                <a:solidFill>
                  <a:srgbClr val="1E293B"/>
                </a:solidFill>
                <a:latin typeface="Poppins SemiBold"/>
              </a:rPr>
              <a:t>Analytical 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2475" y="2808089"/>
            <a:ext cx="49911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Quantify directional cost drivers using information available strictly at work order intake.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525" y="2469951"/>
            <a:ext cx="5200650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b="0" sz="1650" i="0" u="none">
                <a:solidFill>
                  <a:srgbClr val="1E293B"/>
                </a:solidFill>
                <a:latin typeface="Poppins SemiBold"/>
              </a:rPr>
              <a:t>Variance Inflation Factor (VIF) Diagnostic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6525" y="3431976"/>
            <a:ext cx="4953000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Lato"/>
              </a:rPr>
              <a:t>Max VIF dropped from 16.50 to </a:t>
            </a:r>
            <a:r>
              <a:rPr b="1" sz="1050" i="0" u="none">
                <a:solidFill>
                  <a:srgbClr val="475569"/>
                </a:solidFill>
                <a:latin typeface="Lato"/>
              </a:rPr>
              <a:t>5.85</a:t>
            </a:r>
            <a:r>
              <a:rPr b="0" sz="1050" i="0" u="none">
                <a:solidFill>
                  <a:srgbClr val="475569"/>
                </a:solidFill>
                <a:latin typeface="Lato"/>
              </a:rPr>
              <a:t> after removing collinear features, ensuring stable coefficient estimation.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175" y="3394769"/>
            <a:ext cx="47244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Predictors: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Priority Code, Job Type, Equipment Prior Cost, Prior WO Count, Dept Average Cost.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75" y="3981450"/>
            <a:ext cx="47244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Multicollinearity Check: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Evaluated using Variance Inflation Factor (VIF).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4568130"/>
            <a:ext cx="47244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Heteroscedasticity Adjustment: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Applied HC3 robust standard errors following Breusch-Pagan test.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6075" y="3000077"/>
            <a:ext cx="777775" cy="2223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3400" y="419100"/>
            <a:ext cx="11658600" cy="423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b="0" sz="2550" i="0" u="none">
                <a:solidFill>
                  <a:srgbClr val="0F172A"/>
                </a:solidFill>
                <a:latin typeface="Poppins SemiBold"/>
              </a:rPr>
              <a:t>Technique 3: Multiple Linear Regression (MLR)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3400" y="938212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3413819"/>
            <a:ext cx="114300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4000500"/>
            <a:ext cx="11430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4587180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395341"/>
            <a:ext cx="5429250" cy="139600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4395341"/>
            <a:ext cx="5429250" cy="139600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3400" y="1833264"/>
            <a:ext cx="11125200" cy="2371576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1833264"/>
          <a:ext cx="11115673" cy="2371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682031"/>
                <a:gridCol w="1833562"/>
                <a:gridCol w="1104602"/>
                <a:gridCol w="5495478"/>
              </a:tblGrid>
              <a:tr h="474315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Predictor Variable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MLR Coefficient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p-value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Business Interpretation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7431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PRI_PRIORITY_CODE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+$195.45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&lt; 0.001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Higher numeric priority step associates with higher expected cost.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431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JOB_TYPE_REPAIR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+$293.31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&lt; 0.001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Unplanned repairs add $293.31 vs baseline PM work orders.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7431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EQUIP_PRIOR_AVG_COST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+$0.315 / $1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&lt; 0.001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Historical asset cost carries forward-looking risk signal.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4316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EQUIP_PRIOR_WO_COUNT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+$1.458 / WO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&lt; 0.001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Frequent maintenance history increases current job cost.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38162" y="2767607"/>
            <a:ext cx="26820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20194" y="2767607"/>
            <a:ext cx="18335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53756" y="2767607"/>
            <a:ext cx="11046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58358" y="2767607"/>
            <a:ext cx="54954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8162" y="3241923"/>
            <a:ext cx="26820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20194" y="3241923"/>
            <a:ext cx="18335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53756" y="3241923"/>
            <a:ext cx="11046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8358" y="3241923"/>
            <a:ext cx="54954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8162" y="3716238"/>
            <a:ext cx="26820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20194" y="3716238"/>
            <a:ext cx="18335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53756" y="3716238"/>
            <a:ext cx="11046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58358" y="3716238"/>
            <a:ext cx="54954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8162" y="4190553"/>
            <a:ext cx="26820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20194" y="4190553"/>
            <a:ext cx="18335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53756" y="4190553"/>
            <a:ext cx="11046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8358" y="4190553"/>
            <a:ext cx="54954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2475" y="4614416"/>
            <a:ext cx="4991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1" sz="2400" i="0" u="none">
                <a:solidFill>
                  <a:srgbClr val="4F46E5"/>
                </a:solidFill>
                <a:latin typeface="Poppins"/>
              </a:rPr>
              <a:t>R² = 0.0725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475" y="4976366"/>
            <a:ext cx="49911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293B"/>
                </a:solidFill>
                <a:latin typeface="Lato"/>
              </a:rPr>
              <a:t>MODEL EXPLANATORY POWER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475" y="5185916"/>
            <a:ext cx="49911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Lato"/>
              </a:rPr>
              <a:t>Test Set 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6525" y="4614416"/>
            <a:ext cx="5200650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b="0" sz="1650" i="0" u="none">
                <a:solidFill>
                  <a:srgbClr val="1E293B"/>
                </a:solidFill>
                <a:latin typeface="Poppins SemiBold"/>
              </a:rPr>
              <a:t>Managerial Takeaway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6525" y="4952553"/>
            <a:ext cx="4953000" cy="61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Lato"/>
              </a:rPr>
              <a:t>Early intake variables are statistically significant directional indicators, but explain only 7.25% of total cost variance. MLR serves to identify risk factors, not precise budget forecasting.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419100"/>
            <a:ext cx="11658600" cy="423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b="0" sz="2550" i="0" u="none">
                <a:solidFill>
                  <a:srgbClr val="0F172A"/>
                </a:solidFill>
                <a:latin typeface="Poppins SemiBold"/>
              </a:rPr>
              <a:t>Intake Variables Provide Directional Cost Signals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3400" y="938212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989385"/>
            <a:ext cx="5429250" cy="1323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1989385"/>
            <a:ext cx="5429250" cy="132397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3400" y="3503860"/>
            <a:ext cx="11125200" cy="2131516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3503860"/>
          <a:ext cx="11115674" cy="2131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088505"/>
                <a:gridCol w="1755576"/>
                <a:gridCol w="1019175"/>
                <a:gridCol w="2082254"/>
                <a:gridCol w="4170164"/>
              </a:tblGrid>
              <a:tr h="710505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Classification Cutoff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Recall (High Impact)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Precision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Share Flagged for Review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Operational Assessment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71050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Standard Cutoff (0.50)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1.10%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49.86%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Very Small (&lt; 1%)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DC2626"/>
                          </a:solidFill>
                          <a:latin typeface="Lato"/>
                        </a:rPr>
                        <a:t>Unusable:</a:t>
                      </a:r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 Misses 98.9% of high-impact risks due to class imbalance.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10506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Recommended Cutoff (0.25)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70.59%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31.62%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55.40%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66534"/>
                          </a:solidFill>
                          <a:latin typeface="Lato"/>
                        </a:rPr>
                        <a:t>Effective Screening:</a:t>
                      </a:r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 Captures 70.6% of risks for advisory review.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2475" y="2208460"/>
            <a:ext cx="4991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1" sz="3600" i="0" u="none">
                <a:solidFill>
                  <a:srgbClr val="4F46E5"/>
                </a:solidFill>
                <a:latin typeface="Poppins"/>
              </a:rPr>
              <a:t>0.641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2475" y="2722810"/>
            <a:ext cx="49911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293B"/>
                </a:solidFill>
                <a:latin typeface="Lato"/>
              </a:rPr>
              <a:t>ROC-AUC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2932360"/>
            <a:ext cx="49911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Lato"/>
              </a:rPr>
              <a:t>Modest, useful early screening discrimination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525" y="2208460"/>
            <a:ext cx="495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1" sz="3600" i="0" u="none">
                <a:solidFill>
                  <a:srgbClr val="10B981"/>
                </a:solidFill>
                <a:latin typeface="Poppins"/>
              </a:rPr>
              <a:t>70.59%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2722810"/>
            <a:ext cx="4953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293B"/>
                </a:solidFill>
                <a:latin typeface="Lato"/>
              </a:rPr>
              <a:t>HIGH-IMPACT RECALL @ 0.25 CUTOFF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2932360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Lato"/>
              </a:rPr>
              <a:t>Flags 55.4% of orders for manager 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8162" y="4910583"/>
            <a:ext cx="20885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26667" y="4910583"/>
            <a:ext cx="17555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2244" y="4910583"/>
            <a:ext cx="10191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01419" y="4910583"/>
            <a:ext cx="20822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83673" y="4910583"/>
            <a:ext cx="41701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8162" y="5621089"/>
            <a:ext cx="20885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26667" y="5621089"/>
            <a:ext cx="17555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2244" y="5621089"/>
            <a:ext cx="10191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01419" y="5621089"/>
            <a:ext cx="20822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83673" y="5621089"/>
            <a:ext cx="41701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400" y="419100"/>
            <a:ext cx="11658600" cy="423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b="0" sz="2550" i="0" u="none">
                <a:solidFill>
                  <a:srgbClr val="0F172A"/>
                </a:solidFill>
                <a:latin typeface="Poppins SemiBold"/>
              </a:rPr>
              <a:t>Logistic Classifier Achieves 70.6% Recall at 0.25 Cutoff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938212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19945"/>
            <a:ext cx="5429250" cy="27848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2419945"/>
            <a:ext cx="5429250" cy="27848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9175" y="2639020"/>
            <a:ext cx="47244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1. Cost &amp; Downtime are Distinct (r = 0.086):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Dual-dimension targeting is essential; cost alone misses fleet disruption.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175" y="3225700"/>
            <a:ext cx="47244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2. Code Congestion (98.31% in Code 3):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Existing priority system provides near-zero routine differentiation.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175" y="3812381"/>
            <a:ext cx="47244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3. Low Practical Effect (η² ≈ 0.002):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Statistical significance in large samples does not mean useful shop triage.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175" y="4399061"/>
            <a:ext cx="47244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4. Hidden High-Risk Profiles (K-Means):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98.7% of high-cost, labor-intensive jobs are trapped in standard Priority 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3225" y="2639020"/>
            <a:ext cx="46863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5. Repair Jobs Carry High Risk (Odds Ratio 2.96):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Unplanned repair classification is a vital early intake risk signal.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3225" y="3225700"/>
            <a:ext cx="46863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6. Early Cost Prediction is Inherently Noisy (R² = 0.0725):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Models indicate directional risk context rather than exact budget figures.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3225" y="3812381"/>
            <a:ext cx="46863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7. Feasible Risk Screening (70.6% Recall):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A 0.25 logistic cutoff successfully surfaces high-impact work orders for review.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419100"/>
            <a:ext cx="11658600" cy="423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b="0" sz="2550" i="0" u="none">
                <a:solidFill>
                  <a:srgbClr val="0F172A"/>
                </a:solidFill>
                <a:latin typeface="Poppins SemiBold"/>
              </a:rPr>
              <a:t>Seven Core Insights Synthesize Analytical Findings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3400" y="938212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2658070"/>
            <a:ext cx="114300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3244750"/>
            <a:ext cx="114300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3831431"/>
            <a:ext cx="114300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4418111"/>
            <a:ext cx="11430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2658070"/>
            <a:ext cx="11430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3244750"/>
            <a:ext cx="11430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3831431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400" y="2149375"/>
            <a:ext cx="11125200" cy="3325862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2149375"/>
          <a:ext cx="11115674" cy="3325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78918"/>
                <a:gridCol w="3890367"/>
                <a:gridCol w="4446389"/>
              </a:tblGrid>
              <a:tr h="665172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Original Problem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Evidence from Analysis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Data-Driven Solution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6517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Priority Code Congestion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98.31% of work orders sit in Priority Code 3.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Layer data-driven risk screening </a:t>
                      </a:r>
                      <a:r>
                        <a:rPr b="0" sz="1200" i="1" u="none">
                          <a:solidFill>
                            <a:srgbClr val="475569"/>
                          </a:solidFill>
                          <a:latin typeface="Lato"/>
                        </a:rPr>
                        <a:t>inside</a:t>
                      </a:r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 Priority Code 3 to differentiate jobs.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517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Operational Impact Blind Spots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Cost &amp; downtime correlate at r = 0.086.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Implement dual-threshold </a:t>
                      </a:r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HIGH_IMPACT</a:t>
                      </a:r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 rule combining cost and downtime.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6517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Negligible Code Value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ANOVA effect sizes η² &lt; 0.0025.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Supplement manual codes with automated predictive risk scores.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5174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Lato"/>
                        </a:rPr>
                        <a:t>Hidden Resource Heavy Jobs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Cluster 2 ($1,262 avg cost) is 98.7% Code 3.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Lato"/>
                        </a:rPr>
                        <a:t>Flag high-cost, high-labor repair work orders at creation for managerial review.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38162" y="3319908"/>
            <a:ext cx="2778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17081" y="3319908"/>
            <a:ext cx="38903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07448" y="3319908"/>
            <a:ext cx="44463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8162" y="4039939"/>
            <a:ext cx="2778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17081" y="4039939"/>
            <a:ext cx="38903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07448" y="4039939"/>
            <a:ext cx="44463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8162" y="4750444"/>
            <a:ext cx="2778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7081" y="4750444"/>
            <a:ext cx="38903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07448" y="4750444"/>
            <a:ext cx="44463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8162" y="5460950"/>
            <a:ext cx="2778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7081" y="5460950"/>
            <a:ext cx="38903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07448" y="5460950"/>
            <a:ext cx="44463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400" y="419100"/>
            <a:ext cx="11658600" cy="423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b="0" sz="2550" i="0" u="none">
                <a:solidFill>
                  <a:srgbClr val="0F172A"/>
                </a:solidFill>
                <a:latin typeface="Poppins SemiBold"/>
              </a:rPr>
              <a:t>Analytics Directly Solves Identified Triage Problems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400" y="938212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730996"/>
            <a:ext cx="3555950" cy="10894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730996"/>
            <a:ext cx="3555950" cy="108942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2730996"/>
            <a:ext cx="3556099" cy="108942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010917"/>
            <a:ext cx="5429250" cy="88284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9350" y="4010917"/>
            <a:ext cx="5429250" cy="8828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0575" y="2950071"/>
            <a:ext cx="30797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F46E5"/>
                </a:solidFill>
                <a:latin typeface="Lato"/>
              </a:rPr>
              <a:t>1. Equipment Risk Watchlist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575" y="3188196"/>
            <a:ext cx="3079700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Lato"/>
              </a:rPr>
              <a:t>Track the 19.1% of fleet units driving 80% of costs for proactive replacement and maintenance.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5125" y="2950071"/>
            <a:ext cx="30797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F46E5"/>
                </a:solidFill>
                <a:latin typeface="Lato"/>
              </a:rPr>
              <a:t>2. Data-Assisted Screening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5125" y="3188196"/>
            <a:ext cx="3079700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Lato"/>
              </a:rPr>
              <a:t>Display predictive risk scores alongside dispatcher priority codes at work order intake.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9675" y="2950071"/>
            <a:ext cx="3079849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F46E5"/>
                </a:solidFill>
                <a:latin typeface="Lato"/>
              </a:rPr>
              <a:t>3. Target Priority Code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9675" y="3188196"/>
            <a:ext cx="3079849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Lato"/>
              </a:rPr>
              <a:t>Focus analytics specifically within Code 3, where 98.31% of queue differentiation is needed.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575" y="4229992"/>
            <a:ext cx="49530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65F46"/>
                </a:solidFill>
                <a:latin typeface="Lato"/>
              </a:rPr>
              <a:t>4. Capacity-Calibrated Thresholds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575" y="4468117"/>
            <a:ext cx="4953000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Lato"/>
              </a:rPr>
              <a:t>Set operational cutoff (e.g., 0.25) based on available shop manager review capacity.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4229992"/>
            <a:ext cx="49530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65F46"/>
                </a:solidFill>
                <a:latin typeface="Lato"/>
              </a:rPr>
              <a:t>5. Pilot Advisory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4468117"/>
            <a:ext cx="4953000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Lato"/>
              </a:rPr>
              <a:t>Introduce risk flags as decision support before automating any priority changes.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419100"/>
            <a:ext cx="11658600" cy="423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b="0" sz="2550" i="0" u="none">
                <a:solidFill>
                  <a:srgbClr val="0F172A"/>
                </a:solidFill>
                <a:latin typeface="Poppins SemiBold"/>
              </a:rPr>
              <a:t>Five Strategic Recommendations for Fleet Management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3400" y="938212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93168"/>
            <a:ext cx="3555950" cy="26382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493168"/>
            <a:ext cx="3555950" cy="263827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2493168"/>
            <a:ext cx="3556099" cy="26382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2475" y="2750343"/>
            <a:ext cx="31178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F46E5"/>
                </a:solidFill>
                <a:latin typeface="Poppins"/>
              </a:rPr>
              <a:t>Phase 1: Short-Term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2475" y="3121818"/>
            <a:ext cx="3117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Lato"/>
              </a:rPr>
              <a:t>MONTHS 1 –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7025" y="2750343"/>
            <a:ext cx="31178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oppins"/>
              </a:rPr>
              <a:t>Phase 2: Medium-Term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7025" y="3121818"/>
            <a:ext cx="3117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Lato"/>
              </a:rPr>
              <a:t>MONTHS 3 –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575" y="2750343"/>
            <a:ext cx="311794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0B981"/>
                </a:solidFill>
                <a:latin typeface="Poppins"/>
              </a:rPr>
              <a:t>Phase 3: Long-Term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575" y="3121818"/>
            <a:ext cx="311794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Lato"/>
              </a:rPr>
              <a:t>MONTHS 6 –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3388518"/>
            <a:ext cx="285110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Establish equipment risk watchlist.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175" y="3739008"/>
            <a:ext cx="28511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Validate 85th percentile threshold with fleet managers.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4325689"/>
            <a:ext cx="285110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Finalize intake data feature pipeline.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3725" y="3388518"/>
            <a:ext cx="285110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Deploy Priority Code 3 risk screening layer.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3725" y="3739008"/>
            <a:ext cx="28511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Calibrate decision cutoff (0.25) to shop review load.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3725" y="4325689"/>
            <a:ext cx="285110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Train dispatchers on advisory risk scores.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88275" y="3388518"/>
            <a:ext cx="2851249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Integrate risk scoring into CMMS / ERP dashboard.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88275" y="3975199"/>
            <a:ext cx="2851249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Monitor manager adoption &amp; shop throughput.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88275" y="4561879"/>
            <a:ext cx="2851249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Refine models with real-time feedback.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419100"/>
            <a:ext cx="11658600" cy="423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b="0" sz="2550" i="0" u="none">
                <a:solidFill>
                  <a:srgbClr val="0F172A"/>
                </a:solidFill>
                <a:latin typeface="Poppins SemiBold"/>
              </a:rPr>
              <a:t>Phased Implementation Roadmap Ensures Controlled Adoption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938212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407568"/>
            <a:ext cx="114300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758058"/>
            <a:ext cx="114300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4344739"/>
            <a:ext cx="114300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7025" y="3407568"/>
            <a:ext cx="114300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7025" y="3758058"/>
            <a:ext cx="114300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7025" y="4344739"/>
            <a:ext cx="114300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575" y="3407568"/>
            <a:ext cx="114300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575" y="3994249"/>
            <a:ext cx="114300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575" y="4580929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250876"/>
            <a:ext cx="5429250" cy="312300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2250876"/>
            <a:ext cx="5429250" cy="31230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2475" y="2469951"/>
            <a:ext cx="5240655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b="0" sz="1650" i="0" u="none">
                <a:solidFill>
                  <a:srgbClr val="1E293B"/>
                </a:solidFill>
                <a:latin typeface="Poppins SemiBold"/>
              </a:rPr>
              <a:t>Analytical &amp; Data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6525" y="2469951"/>
            <a:ext cx="5200650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b="0" sz="1650" i="0" u="none">
                <a:solidFill>
                  <a:srgbClr val="1E293B"/>
                </a:solidFill>
                <a:latin typeface="Poppins SemiBold"/>
              </a:rPr>
              <a:t>Future Research &amp; Enhancement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175" y="2808089"/>
            <a:ext cx="47244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Threshold Validation: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85th percentile cutoff is analytical and requires formal operational validation by fleet managers.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175" y="3394769"/>
            <a:ext cx="47244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Observational Data: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Relationships reflect statistical associations, not established causal effects.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175" y="3981450"/>
            <a:ext cx="47244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Unexplained Variance: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MLR R² of 0.0725 highlights high intrinsic cost noise at work order intake.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175" y="4568130"/>
            <a:ext cx="47244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Review Capacity Load: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0.25 logistic cutoff flags 55.4% of orders, requiring managed review workflows.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3225" y="2808089"/>
            <a:ext cx="46863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Vehicle Criticality: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Incorporate department service-level agreements (SLAs) and vehicle operational mission criticality.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3225" y="3394769"/>
            <a:ext cx="46863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Shop Capacity Tracking: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Integrate real-time bay availability and technician specialty scheduling queues.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53225" y="3981450"/>
            <a:ext cx="46863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Dynamic Thresholding: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Automate decision cutoffs based on daily shop queue lengths and backlog volume.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419100"/>
            <a:ext cx="11658600" cy="423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b="0" sz="2550" i="0" u="none">
                <a:solidFill>
                  <a:srgbClr val="0F172A"/>
                </a:solidFill>
                <a:latin typeface="Poppins SemiBold"/>
              </a:rPr>
              <a:t>Practical Limitations Frame Future Scope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3400" y="938212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2827139"/>
            <a:ext cx="114300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3413819"/>
            <a:ext cx="11430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4000500"/>
            <a:ext cx="11430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4587180"/>
            <a:ext cx="11430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2827139"/>
            <a:ext cx="11430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3413819"/>
            <a:ext cx="114300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4000500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486400"/>
            <a:ext cx="11125200" cy="952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638425"/>
            <a:ext cx="3581400" cy="13001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2638425"/>
            <a:ext cx="3581400" cy="13001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2638425"/>
            <a:ext cx="3581400" cy="13001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419100"/>
            <a:ext cx="11658600" cy="423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b="0" sz="2550" i="0" u="none">
                <a:solidFill>
                  <a:srgbClr val="FFFFFF"/>
                </a:solidFill>
                <a:latin typeface="Poppins SemiBold"/>
              </a:rPr>
              <a:t>Executive Conclusion: Data-Assisted Fleet Triage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938212"/>
            <a:ext cx="111252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5676900"/>
            <a:ext cx="107442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FFFFFF"/>
                </a:solidFill>
                <a:latin typeface="Poppins SemiBold"/>
              </a:rPr>
              <a:t>"Analytics should not replace dispatcher judgment—it should illuminate hidden risk within standard priority queues."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425" y="2838450"/>
            <a:ext cx="31813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Lato"/>
              </a:rPr>
              <a:t>1. WHAT DID WE FIND?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" y="3095625"/>
            <a:ext cx="31813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E2E8F0"/>
                </a:solidFill>
                <a:latin typeface="Lato"/>
              </a:rPr>
              <a:t>98.31% of work orders sit in Priority Code 3, trapping 98.7% of high-cost, labor-intensive jobs without triage differentiation.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5325" y="2838450"/>
            <a:ext cx="31813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Lato"/>
              </a:rPr>
              <a:t>2. WHY DOES IT MATTER?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5325" y="3095625"/>
            <a:ext cx="31813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E2E8F0"/>
                </a:solidFill>
                <a:latin typeface="Lato"/>
              </a:rPr>
              <a:t>Current priority codes explain under 0.25% of variance (η² ≈ 0.002), causing high-impact jobs to sit in queues and driving avoidable downtime.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7225" y="2838450"/>
            <a:ext cx="31813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Lato"/>
              </a:rPr>
              <a:t>3. WHAT SHOULD BE DONE?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7225" y="3095625"/>
            <a:ext cx="31813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E2E8F0"/>
                </a:solidFill>
                <a:latin typeface="Lato"/>
              </a:rPr>
              <a:t>Layer an advisory risk-screening model inside Priority Code 3 using job type and equipment history to recall 70.6% of high-impact risks.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